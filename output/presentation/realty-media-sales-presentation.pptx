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ad9250a18d4b49" /><Relationship Type="http://schemas.openxmlformats.org/officeDocument/2006/relationships/extended-properties" Target="/docProps/app.xml" Id="R5e34b54142b946c3" /><Relationship Type="http://schemas.openxmlformats.org/officeDocument/2006/relationships/officeDocument" Target="/ppt/presentation.xml" Id="Ra5f05a693f064d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859b15bebb48c5"/>
  </p:sldMasterIdLst>
  <p:notesMasterIdLst>
    <p:notesMasterId xmlns:r="http://schemas.openxmlformats.org/officeDocument/2006/relationships" r:id="R35c2cd0584bc4290"/>
  </p:notesMasterIdLst>
  <p:sldIdLst>
    <p:sldId xmlns:r="http://schemas.openxmlformats.org/officeDocument/2006/relationships" id="256" r:id="R5a7270ef02234f60"/>
    <p:sldId xmlns:r="http://schemas.openxmlformats.org/officeDocument/2006/relationships" id="257" r:id="R0cb1c0bb359446ed"/>
    <p:sldId xmlns:r="http://schemas.openxmlformats.org/officeDocument/2006/relationships" id="258" r:id="Rd508029ec999430f"/>
    <p:sldId xmlns:r="http://schemas.openxmlformats.org/officeDocument/2006/relationships" id="259" r:id="Ra1947a9c580f49b8"/>
    <p:sldId xmlns:r="http://schemas.openxmlformats.org/officeDocument/2006/relationships" id="260" r:id="R3fadfab35c54435f"/>
    <p:sldId xmlns:r="http://schemas.openxmlformats.org/officeDocument/2006/relationships" id="261" r:id="R11128d96e32a4ccf"/>
    <p:sldId xmlns:r="http://schemas.openxmlformats.org/officeDocument/2006/relationships" id="262" r:id="Ra2003834dc984917"/>
    <p:sldId xmlns:r="http://schemas.openxmlformats.org/officeDocument/2006/relationships" id="263" r:id="Rce1497f1441a49a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8f4d3861b641d0" /><Relationship Type="http://schemas.openxmlformats.org/officeDocument/2006/relationships/slideMaster" Target="/ppt/slideMasters/slideMaster1.xml" Id="R52859b15bebb48c5" /><Relationship Type="http://schemas.openxmlformats.org/officeDocument/2006/relationships/notesMaster" Target="/ppt/notesMasters/notesMaster1.xml" Id="R35c2cd0584bc4290" /><Relationship Type="http://schemas.openxmlformats.org/officeDocument/2006/relationships/presProps" Target="/ppt/presProps.xml" Id="R8ef0ff3124b6423f" /><Relationship Type="http://schemas.openxmlformats.org/officeDocument/2006/relationships/tableStyles" Target="/ppt/tableStyles.xml" Id="Rf4ae9d6556ed4feb" /><Relationship Type="http://schemas.openxmlformats.org/officeDocument/2006/relationships/slide" Target="/ppt/slides/slide1.xml" Id="R5a7270ef02234f60" /><Relationship Type="http://schemas.openxmlformats.org/officeDocument/2006/relationships/slide" Target="/ppt/slides/slide2.xml" Id="R0cb1c0bb359446ed" /><Relationship Type="http://schemas.openxmlformats.org/officeDocument/2006/relationships/slide" Target="/ppt/slides/slide3.xml" Id="Rd508029ec999430f" /><Relationship Type="http://schemas.openxmlformats.org/officeDocument/2006/relationships/slide" Target="/ppt/slides/slide4.xml" Id="Ra1947a9c580f49b8" /><Relationship Type="http://schemas.openxmlformats.org/officeDocument/2006/relationships/slide" Target="/ppt/slides/slide5.xml" Id="R3fadfab35c54435f" /><Relationship Type="http://schemas.openxmlformats.org/officeDocument/2006/relationships/slide" Target="/ppt/slides/slide6.xml" Id="R11128d96e32a4ccf" /><Relationship Type="http://schemas.openxmlformats.org/officeDocument/2006/relationships/slide" Target="/ppt/slides/slide7.xml" Id="Ra2003834dc984917" /><Relationship Type="http://schemas.openxmlformats.org/officeDocument/2006/relationships/slide" Target="/ppt/slides/slide8.xml" Id="Rce1497f1441a49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dd439caf0441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608dba409c4476" /><Relationship Type="http://schemas.openxmlformats.org/officeDocument/2006/relationships/notesMaster" Target="/ppt/notesMasters/notesMaster1.xml" Id="R2875edb9b49d4f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0d8a3571fa45eb" /><Relationship Type="http://schemas.openxmlformats.org/officeDocument/2006/relationships/notesMaster" Target="/ppt/notesMasters/notesMaster1.xml" Id="Rf968ff878d014a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b6abf365ef43d0" /><Relationship Type="http://schemas.openxmlformats.org/officeDocument/2006/relationships/notesMaster" Target="/ppt/notesMasters/notesMaster1.xml" Id="R4cd69d3012a14b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5e5e45901641f8" /><Relationship Type="http://schemas.openxmlformats.org/officeDocument/2006/relationships/notesMaster" Target="/ppt/notesMasters/notesMaster1.xml" Id="Red6bf06988f141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78021afe3643e8" /><Relationship Type="http://schemas.openxmlformats.org/officeDocument/2006/relationships/notesMaster" Target="/ppt/notesMasters/notesMaster1.xml" Id="R32dcce55cbaa4b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22f776179a49f6" /><Relationship Type="http://schemas.openxmlformats.org/officeDocument/2006/relationships/notesMaster" Target="/ppt/notesMasters/notesMaster1.xml" Id="Ra72270d96fba45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ec531589344983" /><Relationship Type="http://schemas.openxmlformats.org/officeDocument/2006/relationships/notesMaster" Target="/ppt/notesMasters/notesMaster1.xml" Id="Rb88dfb7e80e94d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53e7a17b384256" /><Relationship Type="http://schemas.openxmlformats.org/officeDocument/2006/relationships/notesMaster" Target="/ppt/notesMasters/notesMaster1.xml" Id="R5631a289ecdf42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51f73fcfe044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60580a1ad74d59" /><Relationship Type="http://schemas.openxmlformats.org/officeDocument/2006/relationships/slideLayout" Target="/ppt/slideLayouts/slideLayout1.xml" Id="R97e1bda79ee240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e1bda79ee240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2ca404eed48c0" /><Relationship Type="http://schemas.openxmlformats.org/officeDocument/2006/relationships/notesSlide" Target="/ppt/notesSlides/notesSlide1.xml" Id="R5fc59d83da3a46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3be09fdbfc403a" /><Relationship Type="http://schemas.openxmlformats.org/officeDocument/2006/relationships/image" Target="/ppt/media/image.png" Id="R610d85d6657344b7" /><Relationship Type="http://schemas.openxmlformats.org/officeDocument/2006/relationships/image" Target="/ppt/media/image2.png" Id="R2e58aa9254ae42f1" /><Relationship Type="http://schemas.openxmlformats.org/officeDocument/2006/relationships/image" Target="/ppt/media/image3.png" Id="R72a60254ea9747ed" /><Relationship Type="http://schemas.openxmlformats.org/officeDocument/2006/relationships/image" Target="/ppt/media/image4.png" Id="Rac9a936f695b42c9" /><Relationship Type="http://schemas.openxmlformats.org/officeDocument/2006/relationships/image" Target="/ppt/media/image5.png" Id="Rdcf308e79099424a" /><Relationship Type="http://schemas.openxmlformats.org/officeDocument/2006/relationships/image" Target="/ppt/media/image6.png" Id="Re3c7255ce34e4547" /><Relationship Type="http://schemas.openxmlformats.org/officeDocument/2006/relationships/image" Target="/ppt/media/image7.png" Id="R1fcc9273fc374e6c" /><Relationship Type="http://schemas.openxmlformats.org/officeDocument/2006/relationships/image" Target="/ppt/media/image8.png" Id="Rc3c0578184b045b1" /><Relationship Type="http://schemas.openxmlformats.org/officeDocument/2006/relationships/notesSlide" Target="/ppt/notesSlides/notesSlide2.xml" Id="Rdec25b416e8645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32fc2f9d64883" /><Relationship Type="http://schemas.openxmlformats.org/officeDocument/2006/relationships/image" Target="/ppt/media/image.jpeg" Id="R285ff16aaa134038" /><Relationship Type="http://schemas.openxmlformats.org/officeDocument/2006/relationships/notesSlide" Target="/ppt/notesSlides/notesSlide3.xml" Id="Ra03b124a9e134a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1d3460cf4749a3" /><Relationship Type="http://schemas.openxmlformats.org/officeDocument/2006/relationships/image" Target="/ppt/media/image2.jpeg" Id="R91c25ef2f18b42a7" /><Relationship Type="http://schemas.openxmlformats.org/officeDocument/2006/relationships/image" Target="/ppt/media/image9.png" Id="R5472a93bb24d4388" /><Relationship Type="http://schemas.openxmlformats.org/officeDocument/2006/relationships/notesSlide" Target="/ppt/notesSlides/notesSlide4.xml" Id="R58e4fa97f73346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af46bd9c404b33" /><Relationship Type="http://schemas.openxmlformats.org/officeDocument/2006/relationships/image" Target="/ppt/media/image3.jpeg" Id="R30f1cd784b7f4879" /><Relationship Type="http://schemas.openxmlformats.org/officeDocument/2006/relationships/image" Target="/ppt/media/image10.png" Id="Rc0c7f83354a94a79" /><Relationship Type="http://schemas.openxmlformats.org/officeDocument/2006/relationships/notesSlide" Target="/ppt/notesSlides/notesSlide5.xml" Id="Rcbec2724dfdf4d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7447a63664f73" /><Relationship Type="http://schemas.openxmlformats.org/officeDocument/2006/relationships/image" Target="/ppt/media/image4.jpeg" Id="Rdb30a48725f0482a" /><Relationship Type="http://schemas.openxmlformats.org/officeDocument/2006/relationships/image" Target="/ppt/media/image11.png" Id="Rc0e813df81344e7e" /><Relationship Type="http://schemas.openxmlformats.org/officeDocument/2006/relationships/notesSlide" Target="/ppt/notesSlides/notesSlide6.xml" Id="Raf9114c5da604b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52068750e4884" /><Relationship Type="http://schemas.openxmlformats.org/officeDocument/2006/relationships/image" Target="/ppt/media/image5.jpeg" Id="R58afc04487ec400b" /><Relationship Type="http://schemas.openxmlformats.org/officeDocument/2006/relationships/notesSlide" Target="/ppt/notesSlides/notesSlide7.xml" Id="R3f14e95aba1542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5310cc0dd4011" /><Relationship Type="http://schemas.openxmlformats.org/officeDocument/2006/relationships/notesSlide" Target="/ppt/notesSlides/notesSlide8.xml" Id="Rb9357c9005a348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ordmark">
            <a:extLst xmlns:a="http://schemas.openxmlformats.org/drawingml/2006/main">
              <a:ext uri="{FF2B5EF4-FFF2-40B4-BE49-F238E27FC236}">
                <a16:creationId xmlns:a16="http://schemas.microsoft.com/office/drawing/2014/main" id="{7E2A249E-45BD-4453-9C86-BF071FA4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F3EFE7"/>
                </a:solidFill>
                <a:latin typeface="Instrument Serif"/>
                <a:ea typeface="Instrument Serif"/>
                <a:cs typeface="Instrument Serif"/>
              </a:defRPr>
            </a:pPr>
            <a:r>
              <a:rPr sz="2250" b="0" i="0">
                <a:solidFill>
                  <a:srgbClr val="F3EFE7"/>
                </a:solidFill>
                <a:latin typeface="Instrument Serif"/>
                <a:ea typeface="Instrument Serif"/>
                <a:cs typeface="Instrument Serif"/>
              </a:rPr>
              <a:t>Realty Media 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30CA7C-9371-459A-8F59-69E33B88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defRPr>
            </a:pPr>
            <a:r>
              <a:rPr sz="1275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rPr>
              <a:t>SALES PRESENTATION</a:t>
            </a:r>
          </a:p>
        </p:txBody>
      </p:sp>
      <p:sp>
        <p:nvSpPr>
          <p:cNvPr id="3" name="cover-title-1">
            <a:extLst xmlns:a="http://schemas.openxmlformats.org/drawingml/2006/main">
              <a:ext uri="{FF2B5EF4-FFF2-40B4-BE49-F238E27FC236}">
                <a16:creationId xmlns:a16="http://schemas.microsoft.com/office/drawing/2014/main" id="{494283C4-A76B-4073-97CE-47D87323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8477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900" b="0" i="0">
                <a:solidFill>
                  <a:srgbClr val="F3EFE7"/>
                </a:solidFill>
                <a:latin typeface="Instrument Serif"/>
                <a:ea typeface="Instrument Serif"/>
                <a:cs typeface="Instrument Serif"/>
              </a:defRPr>
            </a:pPr>
            <a:r>
              <a:rPr sz="6900" b="0" i="0">
                <a:solidFill>
                  <a:srgbClr val="F3EFE7"/>
                </a:solidFill>
                <a:latin typeface="Instrument Serif"/>
                <a:ea typeface="Instrument Serif"/>
                <a:cs typeface="Instrument Serif"/>
              </a:rPr>
              <a:t>Povestea ta prin</a:t>
            </a:r>
          </a:p>
        </p:txBody>
      </p:sp>
      <p:sp>
        <p:nvSpPr>
          <p:cNvPr id="4" name="cover-title-2">
            <a:extLst xmlns:a="http://schemas.openxmlformats.org/drawingml/2006/main">
              <a:ext uri="{FF2B5EF4-FFF2-40B4-BE49-F238E27FC236}">
                <a16:creationId xmlns:a16="http://schemas.microsoft.com/office/drawing/2014/main" id="{477DFF0C-7DCE-4636-B988-ED1D86E8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90875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700" b="0" i="1">
                <a:solidFill>
                  <a:srgbClr val="D62828"/>
                </a:solidFill>
                <a:latin typeface="Instrument Serif"/>
                <a:ea typeface="Instrument Serif"/>
                <a:cs typeface="Instrument Serif"/>
              </a:defRPr>
            </a:pPr>
            <a:r>
              <a:rPr sz="8700" b="0" i="1">
                <a:solidFill>
                  <a:srgbClr val="D62828"/>
                </a:solidFill>
                <a:latin typeface="Instrument Serif"/>
                <a:ea typeface="Instrument Serif"/>
                <a:cs typeface="Instrument Serif"/>
              </a:rPr>
              <a:t>film.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2980BA-F1D6-4C70-B6CA-8878D275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382D4F-8007-4510-94DE-98059922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3EFE7"/>
                </a:solidFill>
                <a:latin typeface="IBM Plex Sans Condensed"/>
                <a:ea typeface="IBM Plex Sans Condensed"/>
                <a:cs typeface="IBM Plex Sans Condensed"/>
              </a:defRPr>
            </a:pPr>
            <a:r>
              <a:rPr sz="1500" b="1" i="0">
                <a:solidFill>
                  <a:srgbClr val="F3EFE7"/>
                </a:solidFill>
                <a:latin typeface="IBM Plex Sans Condensed"/>
                <a:ea typeface="IBM Plex Sans Condensed"/>
                <a:cs typeface="IBM Plex Sans Condensed"/>
              </a:rPr>
              <a:t>REALTYMEDIA.RO</a:t>
            </a:r>
          </a:p>
        </p:txBody>
      </p:sp>
      <p:sp>
        <p:nvSpPr>
          <p:cNvPr id="7" name="page-1">
            <a:extLst xmlns:a="http://schemas.openxmlformats.org/drawingml/2006/main">
              <a:ext uri="{FF2B5EF4-FFF2-40B4-BE49-F238E27FC236}">
                <a16:creationId xmlns:a16="http://schemas.microsoft.com/office/drawing/2014/main" id="{792061EA-21AB-46B8-98E2-DD790A3C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85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defRPr>
            </a:pPr>
            <a:r>
              <a:rPr sz="1125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rPr>
              <a:t>01 / 08</a:t>
            </a:r>
          </a:p>
        </p:txBody>
      </p:sp>
    </p:spTree>
    <p:extLst>
      <p:ext uri="{BB962C8B-B14F-4D97-AF65-F5344CB8AC3E}">
        <p14:creationId xmlns:p14="http://schemas.microsoft.com/office/powerpoint/2010/main" val="9247067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ordmark">
            <a:extLst xmlns:a="http://schemas.openxmlformats.org/drawingml/2006/main">
              <a:ext uri="{FF2B5EF4-FFF2-40B4-BE49-F238E27FC236}">
                <a16:creationId xmlns:a16="http://schemas.microsoft.com/office/drawing/2014/main" id="{A39DFE38-DC78-44C3-8B85-9CED1E18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F3EFE7"/>
                </a:solidFill>
                <a:latin typeface="Instrument Serif"/>
                <a:ea typeface="Instrument Serif"/>
                <a:cs typeface="Instrument Serif"/>
              </a:defRPr>
            </a:pPr>
            <a:r>
              <a:rPr sz="2250" b="0" i="0">
                <a:solidFill>
                  <a:srgbClr val="F3EFE7"/>
                </a:solidFill>
                <a:latin typeface="Instrument Serif"/>
                <a:ea typeface="Instrument Serif"/>
                <a:cs typeface="Instrument Serif"/>
              </a:rPr>
              <a:t>Realty Media 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41C87-241B-49D0-966D-499A4957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90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defRPr>
            </a:pPr>
            <a:r>
              <a:rPr sz="1275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rPr>
              <a:t>DE CE STORYTELLING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14C7BF-605C-4944-9FDA-55BE3ECE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025" b="0" i="0">
                <a:solidFill>
                  <a:srgbClr val="F3EFE7"/>
                </a:solidFill>
                <a:latin typeface="Instrument Serif"/>
                <a:ea typeface="Instrument Serif"/>
                <a:cs typeface="Instrument Serif"/>
              </a:defRPr>
            </a:pPr>
            <a:r>
              <a:rPr sz="5025" b="0" i="0">
                <a:solidFill>
                  <a:srgbClr val="F3EFE7"/>
                </a:solidFill>
                <a:latin typeface="Instrument Serif"/>
                <a:ea typeface="Instrument Serif"/>
                <a:cs typeface="Instrument Serif"/>
              </a:rPr>
              <a:t>Doar niște cărămizi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9E8D28-84E1-4FA4-BD5E-51460851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43125"/>
            <a:ext cx="666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025" b="0" i="1">
                <a:solidFill>
                  <a:srgbClr val="D62828"/>
                </a:solidFill>
                <a:latin typeface="Instrument Serif"/>
                <a:ea typeface="Instrument Serif"/>
                <a:cs typeface="Instrument Serif"/>
              </a:defRPr>
            </a:pPr>
            <a:r>
              <a:rPr sz="5025" b="0" i="1">
                <a:solidFill>
                  <a:srgbClr val="D62828"/>
                </a:solidFill>
                <a:latin typeface="Instrument Serif"/>
                <a:ea typeface="Instrument Serif"/>
                <a:cs typeface="Instrument Serif"/>
              </a:rPr>
              <a:t>dacă nu ai storytelling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D20BE4-9D8F-4DBE-B945-0C2908E3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623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F3EFE7"/>
                </a:solidFill>
                <a:latin typeface="IBM Plex Sans Condensed"/>
                <a:ea typeface="IBM Plex Sans Condensed"/>
                <a:cs typeface="IBM Plex Sans Condensed"/>
              </a:defRPr>
            </a:pPr>
            <a:r>
              <a:rPr sz="1800" b="0" i="0">
                <a:solidFill>
                  <a:srgbClr val="F3EFE7"/>
                </a:solidFill>
                <a:latin typeface="IBM Plex Sans Condensed"/>
                <a:ea typeface="IBM Plex Sans Condensed"/>
                <a:cs typeface="IBM Plex Sans Condensed"/>
              </a:rPr>
              <a:t>Cele mai corecte prețuri pentru cea mai bună calitate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EA8EA0-41B5-4FDC-BB24-F21B6DA9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47800"/>
            <a:ext cx="4191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F3EFE7"/>
                </a:solidFill>
                <a:latin typeface="IBM Plex Sans Condensed"/>
                <a:ea typeface="IBM Plex Sans Condensed"/>
                <a:cs typeface="IBM Plex Sans Condensed"/>
              </a:defRPr>
            </a:pPr>
            <a:r>
              <a:rPr sz="2025" b="0" i="0">
                <a:solidFill>
                  <a:srgbClr val="F3EFE7"/>
                </a:solidFill>
                <a:latin typeface="IBM Plex Sans Condensed"/>
                <a:ea typeface="IBM Plex Sans Condensed"/>
                <a:cs typeface="IBM Plex Sans Condensed"/>
              </a:rPr>
              <a:t>Ajutăm orice proprietate să își dezvolte prezența online, să transforme cu ușurință vizualizările în clienți plătitori și să își construiască un brand complet, prin implementarea sistemului nostru inedit.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E607AD-61C0-4A5E-884C-A7E7C14A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719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defRPr>
            </a:pPr>
            <a:r>
              <a:rPr sz="1275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rPr>
              <a:t>CLIENȚI REALTY MEDIA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73E808-A969-4A70-A8AC-EE6C14FB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4342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D2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0d85d6657344b7"/>
          <a:stretch xmlns:a="http://schemas.openxmlformats.org/drawingml/2006/main"/>
        </p:blipFill>
        <p:spPr>
          <a:xfrm xmlns:a="http://schemas.openxmlformats.org/drawingml/2006/main">
            <a:off x="1001578" y="4953000"/>
            <a:ext cx="968644" cy="762000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58aa9254ae42f1"/>
          <a:stretch xmlns:a="http://schemas.openxmlformats.org/drawingml/2006/main"/>
        </p:blipFill>
        <p:spPr>
          <a:xfrm xmlns:a="http://schemas.openxmlformats.org/drawingml/2006/main">
            <a:off x="2307248" y="4953000"/>
            <a:ext cx="586154" cy="762000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a60254ea9747ed"/>
          <a:stretch xmlns:a="http://schemas.openxmlformats.org/drawingml/2006/main"/>
        </p:blipFill>
        <p:spPr>
          <a:xfrm xmlns:a="http://schemas.openxmlformats.org/drawingml/2006/main">
            <a:off x="3219450" y="4984750"/>
            <a:ext cx="838200" cy="698500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9a936f695b42c9"/>
          <a:stretch xmlns:a="http://schemas.openxmlformats.org/drawingml/2006/main"/>
        </p:blipFill>
        <p:spPr>
          <a:xfrm xmlns:a="http://schemas.openxmlformats.org/drawingml/2006/main">
            <a:off x="4305300" y="5155167"/>
            <a:ext cx="1352550" cy="357665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f308e79099424a"/>
          <a:stretch xmlns:a="http://schemas.openxmlformats.org/drawingml/2006/main"/>
        </p:blipFill>
        <p:spPr>
          <a:xfrm xmlns:a="http://schemas.openxmlformats.org/drawingml/2006/main">
            <a:off x="5905500" y="5089925"/>
            <a:ext cx="1257300" cy="488149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c7255ce34e4547"/>
          <a:stretch xmlns:a="http://schemas.openxmlformats.org/drawingml/2006/main"/>
        </p:blipFill>
        <p:spPr>
          <a:xfrm xmlns:a="http://schemas.openxmlformats.org/drawingml/2006/main">
            <a:off x="7410450" y="5126906"/>
            <a:ext cx="1066800" cy="414187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cc9273fc374e6c"/>
          <a:stretch xmlns:a="http://schemas.openxmlformats.org/drawingml/2006/main"/>
        </p:blipFill>
        <p:spPr>
          <a:xfrm xmlns:a="http://schemas.openxmlformats.org/drawingml/2006/main">
            <a:off x="8724900" y="5172392"/>
            <a:ext cx="1028700" cy="323217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c0578184b045b1"/>
          <a:stretch xmlns:a="http://schemas.openxmlformats.org/drawingml/2006/main"/>
        </p:blipFill>
        <p:spPr>
          <a:xfrm xmlns:a="http://schemas.openxmlformats.org/drawingml/2006/main">
            <a:off x="10001250" y="5193868"/>
            <a:ext cx="1200150" cy="280264"/>
          </a:xfrm>
          <a:prstGeom xmlns:a="http://schemas.openxmlformats.org/drawingml/2006/main" prst="rect">
            <a:avLst/>
          </a:prstGeom>
        </p:spPr>
      </p:pic>
      <p:sp>
        <p:nvSpPr>
          <p:cNvPr id="17" name="page-2">
            <a:extLst xmlns:a="http://schemas.openxmlformats.org/drawingml/2006/main">
              <a:ext uri="{FF2B5EF4-FFF2-40B4-BE49-F238E27FC236}">
                <a16:creationId xmlns:a16="http://schemas.microsoft.com/office/drawing/2014/main" id="{CD2283FD-9481-44B9-8EB9-9A800C55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85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defRPr>
            </a:pPr>
            <a:r>
              <a:rPr sz="1125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rPr>
              <a:t>02 / 08</a:t>
            </a:r>
          </a:p>
        </p:txBody>
      </p:sp>
    </p:spTree>
    <p:extLst>
      <p:ext uri="{BB962C8B-B14F-4D97-AF65-F5344CB8AC3E}">
        <p14:creationId xmlns:p14="http://schemas.microsoft.com/office/powerpoint/2010/main" val="17297075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ordmark">
            <a:extLst xmlns:a="http://schemas.openxmlformats.org/drawingml/2006/main">
              <a:ext uri="{FF2B5EF4-FFF2-40B4-BE49-F238E27FC236}">
                <a16:creationId xmlns:a16="http://schemas.microsoft.com/office/drawing/2014/main" id="{D687F1C4-96B9-44E3-8621-0753B23E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0A0A0A"/>
                </a:solidFill>
                <a:latin typeface="Instrument Serif"/>
                <a:ea typeface="Instrument Serif"/>
                <a:cs typeface="Instrument Serif"/>
              </a:defRPr>
            </a:pPr>
            <a:r>
              <a:rPr sz="2250" b="0" i="0">
                <a:solidFill>
                  <a:srgbClr val="0A0A0A"/>
                </a:solidFill>
                <a:latin typeface="Instrument Serif"/>
                <a:ea typeface="Instrument Serif"/>
                <a:cs typeface="Instrument Serif"/>
              </a:rPr>
              <a:t>Realty Media 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FA3620-1388-41D2-8AA3-0B3459BE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defRPr>
            </a:pPr>
            <a:r>
              <a:rPr sz="1275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rPr>
              <a:t>SERVICIILE NOASTRE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2DB8F5-745A-4361-A5D5-6E8DDA35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650" b="0" i="0">
                <a:solidFill>
                  <a:srgbClr val="0A0A0A"/>
                </a:solidFill>
                <a:latin typeface="Instrument Serif"/>
                <a:ea typeface="Instrument Serif"/>
                <a:cs typeface="Instrument Serif"/>
              </a:defRPr>
            </a:pPr>
            <a:r>
              <a:rPr sz="7650" b="0" i="0">
                <a:solidFill>
                  <a:srgbClr val="0A0A0A"/>
                </a:solidFill>
                <a:latin typeface="Instrument Serif"/>
                <a:ea typeface="Instrument Serif"/>
                <a:cs typeface="Instrument Serif"/>
              </a:rPr>
              <a:t>Fotografie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F71001-3AD1-4B2D-8E19-3E184420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419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0A0A0A"/>
                </a:solidFill>
                <a:latin typeface="IBM Plex Sans Condensed"/>
                <a:ea typeface="IBM Plex Sans Condensed"/>
                <a:cs typeface="IBM Plex Sans Condensed"/>
              </a:defRPr>
            </a:pPr>
            <a:r>
              <a:rPr sz="2250" b="0" i="0">
                <a:solidFill>
                  <a:srgbClr val="0A0A0A"/>
                </a:solidFill>
                <a:latin typeface="IBM Plex Sans Condensed"/>
                <a:ea typeface="IBM Plex Sans Condensed"/>
                <a:cs typeface="IBM Plex Sans Condensed"/>
              </a:rPr>
              <a:t>Cadre care surprind atmosfera, lumina și detaliile care fac o proprietate ușor de ales.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9318F-0FD6-466B-830A-29A144B7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62828"/>
                </a:solidFill>
                <a:latin typeface="IBM Plex Sans Condensed"/>
                <a:ea typeface="IBM Plex Sans Condensed"/>
                <a:cs typeface="IBM Plex Sans Condensed"/>
              </a:defRPr>
            </a:pPr>
            <a:r>
              <a:rPr sz="1350" b="1" i="0">
                <a:solidFill>
                  <a:srgbClr val="D62828"/>
                </a:solidFill>
                <a:latin typeface="IBM Plex Sans Condensed"/>
                <a:ea typeface="IBM Plex Sans Condensed"/>
                <a:cs typeface="IBM Plex Sans Condensed"/>
              </a:rPr>
              <a:t>IMAGINI PENTRU LISTARE, SOCIAL MEDIA ȘI WEBSITE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5ff16aaa134038"/>
          <a:srcRect xmlns:a="http://schemas.openxmlformats.org/drawingml/2006/main" l="12461" t="0" r="124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0"/>
            <a:ext cx="6858000" cy="6858000"/>
          </a:xfrm>
          <a:prstGeom xmlns:a="http://schemas.openxmlformats.org/drawingml/2006/main" prst="rect">
            <a:avLst/>
          </a:prstGeom>
        </p:spPr>
      </p:pic>
      <p:sp>
        <p:nvSpPr>
          <p:cNvPr id="7" name="page-3">
            <a:extLst xmlns:a="http://schemas.openxmlformats.org/drawingml/2006/main">
              <a:ext uri="{FF2B5EF4-FFF2-40B4-BE49-F238E27FC236}">
                <a16:creationId xmlns:a16="http://schemas.microsoft.com/office/drawing/2014/main" id="{D045AD0F-37D7-4346-8437-0497C1D3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85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defRPr>
            </a:pPr>
            <a:r>
              <a:rPr sz="1125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rPr>
              <a:t>03 / 08</a:t>
            </a:r>
          </a:p>
        </p:txBody>
      </p:sp>
    </p:spTree>
    <p:extLst>
      <p:ext uri="{BB962C8B-B14F-4D97-AF65-F5344CB8AC3E}">
        <p14:creationId xmlns:p14="http://schemas.microsoft.com/office/powerpoint/2010/main" val="7252549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ordmark">
            <a:extLst xmlns:a="http://schemas.openxmlformats.org/drawingml/2006/main">
              <a:ext uri="{FF2B5EF4-FFF2-40B4-BE49-F238E27FC236}">
                <a16:creationId xmlns:a16="http://schemas.microsoft.com/office/drawing/2014/main" id="{B7068761-D2F0-4584-9E35-F12BECB8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F3EFE7"/>
                </a:solidFill>
                <a:latin typeface="Instrument Serif"/>
                <a:ea typeface="Instrument Serif"/>
                <a:cs typeface="Instrument Serif"/>
              </a:defRPr>
            </a:pPr>
            <a:r>
              <a:rPr sz="2250" b="0" i="0">
                <a:solidFill>
                  <a:srgbClr val="F3EFE7"/>
                </a:solidFill>
                <a:latin typeface="Instrument Serif"/>
                <a:ea typeface="Instrument Serif"/>
                <a:cs typeface="Instrument Serif"/>
              </a:rPr>
              <a:t>Realty Media 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B3D9D7-526C-4970-91E0-A03A0668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43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75" b="0" i="0">
                <a:solidFill>
                  <a:srgbClr val="F3EFE7"/>
                </a:solidFill>
                <a:latin typeface="Instrument Serif"/>
                <a:ea typeface="Instrument Serif"/>
                <a:cs typeface="Instrument Serif"/>
              </a:defRPr>
            </a:pPr>
            <a:r>
              <a:rPr sz="3975" b="0" i="0">
                <a:solidFill>
                  <a:srgbClr val="F3EFE7"/>
                </a:solidFill>
                <a:latin typeface="Instrument Serif"/>
                <a:ea typeface="Instrument Serif"/>
                <a:cs typeface="Instrument Serif"/>
              </a:rPr>
              <a:t>Conținut care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305F7-4637-4A91-9605-EC37686C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057275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0" i="1">
                <a:solidFill>
                  <a:srgbClr val="D62828"/>
                </a:solidFill>
                <a:latin typeface="Instrument Serif"/>
                <a:ea typeface="Instrument Serif"/>
                <a:cs typeface="Instrument Serif"/>
              </a:defRPr>
            </a:pPr>
            <a:r>
              <a:rPr sz="4650" b="0" i="1">
                <a:solidFill>
                  <a:srgbClr val="D62828"/>
                </a:solidFill>
                <a:latin typeface="Instrument Serif"/>
                <a:ea typeface="Instrument Serif"/>
                <a:cs typeface="Instrument Serif"/>
              </a:rPr>
              <a:t>oprește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166826-E47E-4034-A01B-24AAC9EA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057275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0" i="0">
                <a:solidFill>
                  <a:srgbClr val="F3EFE7"/>
                </a:solidFill>
                <a:latin typeface="Instrument Serif"/>
                <a:ea typeface="Instrument Serif"/>
                <a:cs typeface="Instrument Serif"/>
              </a:defRPr>
            </a:pPr>
            <a:r>
              <a:rPr sz="4650" b="0" i="0">
                <a:solidFill>
                  <a:srgbClr val="F3EFE7"/>
                </a:solidFill>
                <a:latin typeface="Instrument Serif"/>
                <a:ea typeface="Instrument Serif"/>
                <a:cs typeface="Instrument Serif"/>
              </a:rPr>
              <a:t>scroll-ul.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D30E2C-3535-4352-A278-82FD01DA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718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defRPr>
            </a:pPr>
            <a:r>
              <a:rPr sz="1200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rPr>
              <a:t>PROIECT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5B1CEC-0979-4172-959C-3A4119E4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9565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225" b="0" i="0">
                <a:solidFill>
                  <a:srgbClr val="F3EFE7"/>
                </a:solidFill>
                <a:latin typeface="Instrument Serif"/>
                <a:ea typeface="Instrument Serif"/>
                <a:cs typeface="Instrument Serif"/>
              </a:defRPr>
            </a:pPr>
            <a:r>
              <a:rPr sz="3225" b="0" i="0">
                <a:solidFill>
                  <a:srgbClr val="F3EFE7"/>
                </a:solidFill>
                <a:latin typeface="Instrument Serif"/>
                <a:ea typeface="Instrument Serif"/>
                <a:cs typeface="Instrument Serif"/>
              </a:rPr>
              <a:t>Social Media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AA5E79-66A4-4848-AD9E-5B0967D8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957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defRPr>
            </a:pPr>
            <a:r>
              <a:rPr sz="1425" b="0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rPr>
              <a:t>Reels imobiliare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693AA0-7EF0-4470-A077-78AED540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718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defRPr>
            </a:pPr>
            <a:r>
              <a:rPr sz="1200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rPr>
              <a:t>VIEWS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69D45-17A6-4FF4-B663-F8A25AAF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9565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225" b="0" i="0">
                <a:solidFill>
                  <a:srgbClr val="F3EFE7"/>
                </a:solidFill>
                <a:latin typeface="Instrument Serif"/>
                <a:ea typeface="Instrument Serif"/>
                <a:cs typeface="Instrument Serif"/>
              </a:defRPr>
            </a:pPr>
            <a:r>
              <a:rPr sz="3225" b="0" i="0">
                <a:solidFill>
                  <a:srgbClr val="F3EFE7"/>
                </a:solidFill>
                <a:latin typeface="Instrument Serif"/>
                <a:ea typeface="Instrument Serif"/>
                <a:cs typeface="Instrument Serif"/>
              </a:rPr>
              <a:t>5,400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B8C4ED-4C23-42F2-B711-953581F1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957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defRPr>
            </a:pPr>
            <a:r>
              <a:rPr sz="1425" b="0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rPr>
              <a:t>Conținut vertical</a:t>
            </a:r>
          </a:p>
        </p:txBody>
      </p:sp>
      <p:sp>
        <p:nvSpPr>
          <p:cNvPr id="11" name="page-4">
            <a:extLst xmlns:a="http://schemas.openxmlformats.org/drawingml/2006/main">
              <a:ext uri="{FF2B5EF4-FFF2-40B4-BE49-F238E27FC236}">
                <a16:creationId xmlns:a16="http://schemas.microsoft.com/office/drawing/2014/main" id="{97EFC8F3-609F-4CB3-908B-6176605C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85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defRPr>
            </a:pPr>
            <a:r>
              <a:rPr sz="1125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rPr>
              <a:t>04 / 08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c25ef2f18b42a7"/>
          <a:srcRect xmlns:a="http://schemas.openxmlformats.org/drawingml/2006/main" l="9287" t="0" r="92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20117" y="2024729"/>
            <a:ext cx="1933591" cy="4221575"/>
          </a:xfrm>
          <a:prstGeom xmlns:a="http://schemas.openxmlformats.org/drawingml/2006/main" prst="roundRect">
            <a:avLst>
              <a:gd name="adj" fmla="val 7882"/>
            </a:avLst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72a93bb24d4388"/>
          <a:stretch xmlns:a="http://schemas.openxmlformats.org/drawingml/2006/main"/>
        </p:blipFill>
        <p:spPr>
          <a:xfrm xmlns:a="http://schemas.openxmlformats.org/drawingml/2006/main">
            <a:off x="5000625" y="1885950"/>
            <a:ext cx="2172574" cy="447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8071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ordmark">
            <a:extLst xmlns:a="http://schemas.openxmlformats.org/drawingml/2006/main">
              <a:ext uri="{FF2B5EF4-FFF2-40B4-BE49-F238E27FC236}">
                <a16:creationId xmlns:a16="http://schemas.microsoft.com/office/drawing/2014/main" id="{0C521F83-B332-4C8A-952C-ED644EEA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F3EFE7"/>
                </a:solidFill>
                <a:latin typeface="Instrument Serif"/>
                <a:ea typeface="Instrument Serif"/>
                <a:cs typeface="Instrument Serif"/>
              </a:defRPr>
            </a:pPr>
            <a:r>
              <a:rPr sz="2250" b="0" i="0">
                <a:solidFill>
                  <a:srgbClr val="F3EFE7"/>
                </a:solidFill>
                <a:latin typeface="Instrument Serif"/>
                <a:ea typeface="Instrument Serif"/>
                <a:cs typeface="Instrument Serif"/>
              </a:rPr>
              <a:t>Realty Media 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C48084-03BA-49BC-BB8D-8B4C092A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66750"/>
            <a:ext cx="647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0" i="0">
                <a:solidFill>
                  <a:srgbClr val="F3EFE7"/>
                </a:solidFill>
                <a:latin typeface="Instrument Serif"/>
                <a:ea typeface="Instrument Serif"/>
                <a:cs typeface="Instrument Serif"/>
              </a:defRPr>
            </a:pPr>
            <a:r>
              <a:rPr sz="3900" b="0" i="0">
                <a:solidFill>
                  <a:srgbClr val="F3EFE7"/>
                </a:solidFill>
                <a:latin typeface="Instrument Serif"/>
                <a:ea typeface="Instrument Serif"/>
                <a:cs typeface="Instrument Serif"/>
              </a:rPr>
              <a:t>Tururi care fac proprietatea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D40BEF-34C6-4F88-A986-B13AB45E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2192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0" i="1">
                <a:solidFill>
                  <a:srgbClr val="D62828"/>
                </a:solidFill>
                <a:latin typeface="Instrument Serif"/>
                <a:ea typeface="Instrument Serif"/>
                <a:cs typeface="Instrument Serif"/>
              </a:defRPr>
            </a:pPr>
            <a:r>
              <a:rPr sz="4350" b="0" i="1">
                <a:solidFill>
                  <a:srgbClr val="D62828"/>
                </a:solidFill>
                <a:latin typeface="Instrument Serif"/>
                <a:ea typeface="Instrument Serif"/>
                <a:cs typeface="Instrument Serif"/>
              </a:rPr>
              <a:t>ușor de înțeles.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9BB20-3F36-4D84-8644-85CF8277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defRPr>
            </a:pPr>
            <a:r>
              <a:rPr sz="1200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rPr>
              <a:t>PROIECT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7E1584-6EF3-4056-90D9-2D02C200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290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225" b="0" i="0">
                <a:solidFill>
                  <a:srgbClr val="F3EFE7"/>
                </a:solidFill>
                <a:latin typeface="Instrument Serif"/>
                <a:ea typeface="Instrument Serif"/>
                <a:cs typeface="Instrument Serif"/>
              </a:defRPr>
            </a:pPr>
            <a:r>
              <a:rPr sz="3225" b="0" i="0">
                <a:solidFill>
                  <a:srgbClr val="F3EFE7"/>
                </a:solidFill>
                <a:latin typeface="Instrument Serif"/>
                <a:ea typeface="Instrument Serif"/>
                <a:cs typeface="Instrument Serif"/>
              </a:rPr>
              <a:t>Documentar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94B91-517D-418D-A6A1-1A005D6D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defRPr>
            </a:pPr>
            <a:r>
              <a:rPr sz="1425" b="0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rPr>
              <a:t>Tururi de proprietate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2A4866-7F74-4503-AA52-648EFE0A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051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defRPr>
            </a:pPr>
            <a:r>
              <a:rPr sz="1200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rPr>
              <a:t>VIEWS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551ECA-0DFE-4DB7-92AC-62D1C668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290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225" b="0" i="0">
                <a:solidFill>
                  <a:srgbClr val="F3EFE7"/>
                </a:solidFill>
                <a:latin typeface="Instrument Serif"/>
                <a:ea typeface="Instrument Serif"/>
                <a:cs typeface="Instrument Serif"/>
              </a:defRPr>
            </a:pPr>
            <a:r>
              <a:rPr sz="3225" b="0" i="0">
                <a:solidFill>
                  <a:srgbClr val="F3EFE7"/>
                </a:solidFill>
                <a:latin typeface="Instrument Serif"/>
                <a:ea typeface="Instrument Serif"/>
                <a:cs typeface="Instrument Serif"/>
              </a:rPr>
              <a:t>26,000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708E15-49A2-4EDD-B03F-68C2F9FD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290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defRPr>
            </a:pPr>
            <a:r>
              <a:rPr sz="1425" b="0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rPr>
              <a:t>Imagine cinematică</a:t>
            </a:r>
          </a:p>
        </p:txBody>
      </p:sp>
      <p:sp>
        <p:nvSpPr>
          <p:cNvPr id="10" name="page-5">
            <a:extLst xmlns:a="http://schemas.openxmlformats.org/drawingml/2006/main">
              <a:ext uri="{FF2B5EF4-FFF2-40B4-BE49-F238E27FC236}">
                <a16:creationId xmlns:a16="http://schemas.microsoft.com/office/drawing/2014/main" id="{F1A908BC-E882-4836-917E-42F40F67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85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defRPr>
            </a:pPr>
            <a:r>
              <a:rPr sz="1125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rPr>
              <a:t>05 / 08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f1cd784b7f4879"/>
          <a:srcRect xmlns:a="http://schemas.openxmlformats.org/drawingml/2006/main" l="9287" t="0" r="92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17574" y="2117027"/>
            <a:ext cx="1892451" cy="4131754"/>
          </a:xfrm>
          <a:prstGeom xmlns:a="http://schemas.openxmlformats.org/drawingml/2006/main" prst="roundRect">
            <a:avLst>
              <a:gd name="adj" fmla="val 8053"/>
            </a:avLst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c7f83354a94a79"/>
          <a:stretch xmlns:a="http://schemas.openxmlformats.org/drawingml/2006/main"/>
        </p:blipFill>
        <p:spPr>
          <a:xfrm xmlns:a="http://schemas.openxmlformats.org/drawingml/2006/main">
            <a:off x="5000625" y="1981200"/>
            <a:ext cx="2126349" cy="438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4707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ordmark">
            <a:extLst xmlns:a="http://schemas.openxmlformats.org/drawingml/2006/main">
              <a:ext uri="{FF2B5EF4-FFF2-40B4-BE49-F238E27FC236}">
                <a16:creationId xmlns:a16="http://schemas.microsoft.com/office/drawing/2014/main" id="{32E29898-16F9-4054-8D50-A0DAD0D9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0A0A0A"/>
                </a:solidFill>
                <a:latin typeface="Instrument Serif"/>
                <a:ea typeface="Instrument Serif"/>
                <a:cs typeface="Instrument Serif"/>
              </a:defRPr>
            </a:pPr>
            <a:r>
              <a:rPr sz="2250" b="0" i="0">
                <a:solidFill>
                  <a:srgbClr val="0A0A0A"/>
                </a:solidFill>
                <a:latin typeface="Instrument Serif"/>
                <a:ea typeface="Instrument Serif"/>
                <a:cs typeface="Instrument Serif"/>
              </a:rPr>
              <a:t>Realty Media 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8A30F-631E-40AA-AB81-E93F9141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6675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150" b="0" i="1">
                <a:solidFill>
                  <a:srgbClr val="D62828"/>
                </a:solidFill>
                <a:latin typeface="Instrument Serif"/>
                <a:ea typeface="Instrument Serif"/>
                <a:cs typeface="Instrument Serif"/>
              </a:defRPr>
            </a:pPr>
            <a:r>
              <a:rPr sz="6150" b="0" i="1">
                <a:solidFill>
                  <a:srgbClr val="D62828"/>
                </a:solidFill>
                <a:latin typeface="Instrument Serif"/>
                <a:ea typeface="Instrument Serif"/>
                <a:cs typeface="Instrument Serif"/>
              </a:rPr>
              <a:t>O experiență.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CDB0A7-1B50-48C0-AAE1-302D815D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1432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defRPr>
            </a:pPr>
            <a:r>
              <a:rPr sz="1200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rPr>
              <a:t>PROIECT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58B9F3-4BD2-4106-845B-03625D93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46710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0" i="0">
                <a:solidFill>
                  <a:srgbClr val="0A0A0A"/>
                </a:solidFill>
                <a:latin typeface="Instrument Serif"/>
                <a:ea typeface="Instrument Serif"/>
                <a:cs typeface="Instrument Serif"/>
              </a:defRPr>
            </a:pPr>
            <a:r>
              <a:rPr sz="2850" b="0" i="0">
                <a:solidFill>
                  <a:srgbClr val="0A0A0A"/>
                </a:solidFill>
                <a:latin typeface="Instrument Serif"/>
                <a:ea typeface="Instrument Serif"/>
                <a:cs typeface="Instrument Serif"/>
              </a:rPr>
              <a:t>Cabana The 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956ED4-253C-4B13-B41D-7C4F66DC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06717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defRPr>
            </a:pPr>
            <a:r>
              <a:rPr sz="1425" b="0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rPr>
              <a:t>Film de prezentare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AC36F3-FE58-4519-A661-BCD09F7C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432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defRPr>
            </a:pPr>
            <a:r>
              <a:rPr sz="1200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rPr>
              <a:t>FORMAT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2F89C-A417-4431-BE33-96D4DBDC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671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225" b="0" i="0">
                <a:solidFill>
                  <a:srgbClr val="0A0A0A"/>
                </a:solidFill>
                <a:latin typeface="Instrument Serif"/>
                <a:ea typeface="Instrument Serif"/>
                <a:cs typeface="Instrument Serif"/>
              </a:defRPr>
            </a:pPr>
            <a:r>
              <a:rPr sz="3225" b="0" i="0">
                <a:solidFill>
                  <a:srgbClr val="0A0A0A"/>
                </a:solidFill>
                <a:latin typeface="Instrument Serif"/>
                <a:ea typeface="Instrument Serif"/>
                <a:cs typeface="Instrument Serif"/>
              </a:rPr>
              <a:t>Drone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715A66-67F9-4019-96E6-5B08915C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671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defRPr>
            </a:pPr>
            <a:r>
              <a:rPr sz="1425" b="0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rPr>
              <a:t>Perspectivă aeriană</a:t>
            </a:r>
          </a:p>
        </p:txBody>
      </p:sp>
      <p:sp>
        <p:nvSpPr>
          <p:cNvPr id="9" name="page-6">
            <a:extLst xmlns:a="http://schemas.openxmlformats.org/drawingml/2006/main">
              <a:ext uri="{FF2B5EF4-FFF2-40B4-BE49-F238E27FC236}">
                <a16:creationId xmlns:a16="http://schemas.microsoft.com/office/drawing/2014/main" id="{4400CAA8-5563-4FEB-A454-E42DBA24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85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defRPr>
            </a:pPr>
            <a:r>
              <a:rPr sz="1125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rPr>
              <a:t>06 / 08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30a48725f0482a"/>
          <a:srcRect xmlns:a="http://schemas.openxmlformats.org/drawingml/2006/main" l="0" t="80" r="0" b="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26155" y="2235814"/>
            <a:ext cx="5139690" cy="288645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e813df81344e7e"/>
          <a:stretch xmlns:a="http://schemas.openxmlformats.org/drawingml/2006/main"/>
        </p:blipFill>
        <p:spPr>
          <a:xfrm xmlns:a="http://schemas.openxmlformats.org/drawingml/2006/main">
            <a:off x="3390900" y="2095500"/>
            <a:ext cx="5410200" cy="40089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0964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ordmark">
            <a:extLst xmlns:a="http://schemas.openxmlformats.org/drawingml/2006/main">
              <a:ext uri="{FF2B5EF4-FFF2-40B4-BE49-F238E27FC236}">
                <a16:creationId xmlns:a16="http://schemas.microsoft.com/office/drawing/2014/main" id="{C814DE42-55F8-440A-83E9-19DD5503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0A0A0A"/>
                </a:solidFill>
                <a:latin typeface="Instrument Serif"/>
                <a:ea typeface="Instrument Serif"/>
                <a:cs typeface="Instrument Serif"/>
              </a:defRPr>
            </a:pPr>
            <a:r>
              <a:rPr sz="2250" b="0" i="0">
                <a:solidFill>
                  <a:srgbClr val="0A0A0A"/>
                </a:solidFill>
                <a:latin typeface="Instrument Serif"/>
                <a:ea typeface="Instrument Serif"/>
                <a:cs typeface="Instrument Serif"/>
              </a:rPr>
              <a:t>Realty Media 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B336B-ADDB-447F-9A60-13FFE785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239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defRPr>
            </a:pPr>
            <a:r>
              <a:rPr sz="1275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rPr>
              <a:t>SERVICIILE NOASTRE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A4D58-31B0-4A18-B064-EF8E8104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4095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900" b="0" i="0">
                <a:solidFill>
                  <a:srgbClr val="0A0A0A"/>
                </a:solidFill>
                <a:latin typeface="Instrument Serif"/>
                <a:ea typeface="Instrument Serif"/>
                <a:cs typeface="Instrument Serif"/>
              </a:defRPr>
            </a:pPr>
            <a:r>
              <a:rPr sz="6900" b="0" i="0">
                <a:solidFill>
                  <a:srgbClr val="0A0A0A"/>
                </a:solidFill>
                <a:latin typeface="Instrument Serif"/>
                <a:ea typeface="Instrument Serif"/>
                <a:cs typeface="Instrument Serif"/>
              </a:rPr>
              <a:t>Web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7844A5-52DA-4576-A873-5C1CD237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3714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A0A0A"/>
                </a:solidFill>
                <a:latin typeface="IBM Plex Sans Condensed"/>
                <a:ea typeface="IBM Plex Sans Condensed"/>
                <a:cs typeface="IBM Plex Sans Condensed"/>
              </a:defRPr>
            </a:pPr>
            <a:r>
              <a:rPr sz="2175" b="0" i="0">
                <a:solidFill>
                  <a:srgbClr val="0A0A0A"/>
                </a:solidFill>
                <a:latin typeface="IBM Plex Sans Condensed"/>
                <a:ea typeface="IBM Plex Sans Condensed"/>
                <a:cs typeface="IBM Plex Sans Condensed"/>
              </a:rPr>
              <a:t>Un spațiu propriu pentru fotografie, film, detalii și contact direct - construit în jurul proprietății.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9A340-EE66-49EA-91EB-7142176B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62828"/>
                </a:solidFill>
                <a:latin typeface="IBM Plex Sans Condensed"/>
                <a:ea typeface="IBM Plex Sans Condensed"/>
                <a:cs typeface="IBM Plex Sans Condensed"/>
              </a:defRPr>
            </a:pPr>
            <a:r>
              <a:rPr sz="1350" b="1" i="0">
                <a:solidFill>
                  <a:srgbClr val="D62828"/>
                </a:solidFill>
                <a:latin typeface="IBM Plex Sans Condensed"/>
                <a:ea typeface="IBM Plex Sans Condensed"/>
                <a:cs typeface="IBM Plex Sans Condensed"/>
              </a:rPr>
              <a:t>MOUNTAIN VIEW APUSENI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3FB493-1BE8-4967-9EF2-82ABE153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66800"/>
            <a:ext cx="6858000" cy="4619625"/>
          </a:xfrm>
          <a:prstGeom xmlns:a="http://schemas.openxmlformats.org/drawingml/2006/main" prst="roundRect">
            <a:avLst>
              <a:gd name="adj" fmla="val 3299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afc04487ec400b"/>
          <a:srcRect xmlns:a="http://schemas.openxmlformats.org/drawingml/2006/main" l="1494" t="0" r="14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14900" y="1219200"/>
            <a:ext cx="6553200" cy="4314825"/>
          </a:xfrm>
          <a:prstGeom xmlns:a="http://schemas.openxmlformats.org/drawingml/2006/main" prst="rect">
            <a:avLst/>
          </a:prstGeom>
        </p:spPr>
      </p:pic>
      <p:sp>
        <p:nvSpPr>
          <p:cNvPr id="8" name="page-7">
            <a:extLst xmlns:a="http://schemas.openxmlformats.org/drawingml/2006/main">
              <a:ext uri="{FF2B5EF4-FFF2-40B4-BE49-F238E27FC236}">
                <a16:creationId xmlns:a16="http://schemas.microsoft.com/office/drawing/2014/main" id="{E2FB68AE-0EF3-4670-A30E-FC187F40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85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defRPr>
            </a:pPr>
            <a:r>
              <a:rPr sz="1125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rPr>
              <a:t>07 / 08</a:t>
            </a:r>
          </a:p>
        </p:txBody>
      </p:sp>
    </p:spTree>
    <p:extLst>
      <p:ext uri="{BB962C8B-B14F-4D97-AF65-F5344CB8AC3E}">
        <p14:creationId xmlns:p14="http://schemas.microsoft.com/office/powerpoint/2010/main" val="1358674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1E2D1B-EEF7-4957-A7BC-80291780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defRPr>
            </a:pPr>
            <a:r>
              <a:rPr sz="1275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rPr>
              <a:t>HAI SĂ CONSTRUIM POVESTEA PROPRIETĂȚII TALE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4E388-D599-4638-B561-135BF34D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defRPr>
            </a:pPr>
            <a:r>
              <a:rPr sz="1275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rPr>
              <a:t>WHATSAPP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685F69-389B-4647-B2C8-CF8F8E19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F3EFE7"/>
                </a:solidFill>
                <a:latin typeface="IBM Plex Sans Condensed"/>
                <a:ea typeface="IBM Plex Sans Condensed"/>
                <a:cs typeface="IBM Plex Sans Condensed"/>
              </a:defRPr>
            </a:pPr>
            <a:r>
              <a:rPr sz="1800" b="0" i="0">
                <a:solidFill>
                  <a:srgbClr val="F3EFE7"/>
                </a:solidFill>
                <a:latin typeface="IBM Plex Sans Condensed"/>
                <a:ea typeface="IBM Plex Sans Condensed"/>
                <a:cs typeface="IBM Plex Sans Condensed"/>
              </a:rPr>
              <a:t>+40 732 775 601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D3C3B9-C1E5-46CA-BBD3-BBF2EC59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2573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defRPr>
            </a:pPr>
            <a:r>
              <a:rPr sz="1275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rPr>
              <a:t>INSTAGRAM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D464F-BCAF-4A26-870D-50A3B8ED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6192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F3EFE7"/>
                </a:solidFill>
                <a:latin typeface="IBM Plex Sans Condensed"/>
                <a:ea typeface="IBM Plex Sans Condensed"/>
                <a:cs typeface="IBM Plex Sans Condensed"/>
              </a:defRPr>
            </a:pPr>
            <a:r>
              <a:rPr sz="1800" b="0" i="0">
                <a:solidFill>
                  <a:srgbClr val="F3EFE7"/>
                </a:solidFill>
                <a:latin typeface="IBM Plex Sans Condensed"/>
                <a:ea typeface="IBM Plex Sans Condensed"/>
                <a:cs typeface="IBM Plex Sans Condensed"/>
              </a:rPr>
              <a:t>@realtymedia.ro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0D664A-A8D1-485F-BC61-F447588C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2573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defRPr>
            </a:pPr>
            <a:r>
              <a:rPr sz="1275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rPr>
              <a:t>EMAIL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C3C7F7-013A-431D-A4A7-084B4F77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6192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F3EFE7"/>
                </a:solidFill>
                <a:latin typeface="IBM Plex Sans Condensed"/>
                <a:ea typeface="IBM Plex Sans Condensed"/>
                <a:cs typeface="IBM Plex Sans Condensed"/>
              </a:defRPr>
            </a:pPr>
            <a:r>
              <a:rPr sz="1800" b="0" i="0">
                <a:solidFill>
                  <a:srgbClr val="F3EFE7"/>
                </a:solidFill>
                <a:latin typeface="IBM Plex Sans Condensed"/>
                <a:ea typeface="IBM Plex Sans Condensed"/>
                <a:cs typeface="IBM Plex Sans Condensed"/>
              </a:rPr>
              <a:t>contact@realtymedia.ro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06EB05-21C9-4075-8405-176260CA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2573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defRPr>
            </a:pPr>
            <a:r>
              <a:rPr sz="1275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rPr>
              <a:t>WEBSITE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8149F4-066D-4A5E-9804-CA15FC76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192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F3EFE7"/>
                </a:solidFill>
                <a:latin typeface="IBM Plex Sans Condensed"/>
                <a:ea typeface="IBM Plex Sans Condensed"/>
                <a:cs typeface="IBM Plex Sans Condensed"/>
              </a:defRPr>
            </a:pPr>
            <a:r>
              <a:rPr sz="1800" b="0" i="0">
                <a:solidFill>
                  <a:srgbClr val="F3EFE7"/>
                </a:solidFill>
                <a:latin typeface="IBM Plex Sans Condensed"/>
                <a:ea typeface="IBM Plex Sans Condensed"/>
                <a:cs typeface="IBM Plex Sans Condensed"/>
              </a:rPr>
              <a:t>realtymedia.ro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ED0041-06E9-45DC-8FF1-99BF8B16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C22305-AAD1-4FD1-8F05-FD2B514D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860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defRPr>
            </a:pPr>
            <a:r>
              <a:rPr sz="1350" b="0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rPr>
              <a:t>Realty Media is operated by Mint Studios Agency SRL © All Rights Reserved 2026</a:t>
            </a:r>
          </a:p>
        </p:txBody>
      </p:sp>
      <p:sp>
        <p:nvSpPr>
          <p:cNvPr id="12" name="contact-wordmark">
            <a:extLst xmlns:a="http://schemas.openxmlformats.org/drawingml/2006/main">
              <a:ext uri="{FF2B5EF4-FFF2-40B4-BE49-F238E27FC236}">
                <a16:creationId xmlns:a16="http://schemas.microsoft.com/office/drawing/2014/main" id="{5DF292AD-DE79-4D52-A2F0-3C427696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886200"/>
            <a:ext cx="11430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0" b="0" i="0">
                <a:solidFill>
                  <a:srgbClr val="F3EFE7"/>
                </a:solidFill>
                <a:latin typeface="Instrument Serif"/>
                <a:ea typeface="Instrument Serif"/>
                <a:cs typeface="Instrument Serif"/>
              </a:defRPr>
            </a:pPr>
            <a:r>
              <a:rPr sz="12750" b="0" i="0">
                <a:solidFill>
                  <a:srgbClr val="F3EFE7"/>
                </a:solidFill>
                <a:latin typeface="Instrument Serif"/>
                <a:ea typeface="Instrument Serif"/>
                <a:cs typeface="Instrument Serif"/>
              </a:rPr>
              <a:t>Realty Media</a:t>
            </a:r>
          </a:p>
        </p:txBody>
      </p:sp>
      <p:sp>
        <p:nvSpPr>
          <p:cNvPr id="13" name="page-8">
            <a:extLst xmlns:a="http://schemas.openxmlformats.org/drawingml/2006/main">
              <a:ext uri="{FF2B5EF4-FFF2-40B4-BE49-F238E27FC236}">
                <a16:creationId xmlns:a16="http://schemas.microsoft.com/office/drawing/2014/main" id="{867A028A-2E2B-4090-95FA-85EAD5DF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85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defRPr>
            </a:pPr>
            <a:r>
              <a:rPr sz="1125" b="1" i="0">
                <a:solidFill>
                  <a:srgbClr val="A7A198"/>
                </a:solidFill>
                <a:latin typeface="IBM Plex Sans Condensed"/>
                <a:ea typeface="IBM Plex Sans Condensed"/>
                <a:cs typeface="IBM Plex Sans Condensed"/>
              </a:rPr>
              <a:t>08 / 08</a:t>
            </a:r>
          </a:p>
        </p:txBody>
      </p:sp>
    </p:spTree>
    <p:extLst>
      <p:ext uri="{BB962C8B-B14F-4D97-AF65-F5344CB8AC3E}">
        <p14:creationId xmlns:p14="http://schemas.microsoft.com/office/powerpoint/2010/main" val="20830415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2026-07-15T15:28:42.0550000Z</dcterms:created>
  <dcterms:modified xsi:type="dcterms:W3CDTF">2026-07-15T15:28:42.0550000Z</dcterms:modified>
</coreProperties>
</file>